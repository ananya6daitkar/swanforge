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46f6a99d64672" /><Relationship Type="http://schemas.openxmlformats.org/officeDocument/2006/relationships/extended-properties" Target="/docProps/app.xml" Id="Rba1d5b78994547f2" /><Relationship Type="http://schemas.openxmlformats.org/officeDocument/2006/relationships/officeDocument" Target="/ppt/presentation.xml" Id="R3723fac78c52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be191bdd4543dd"/>
  </p:sldMasterIdLst>
  <p:notesMasterIdLst>
    <p:notesMasterId xmlns:r="http://schemas.openxmlformats.org/officeDocument/2006/relationships" r:id="Rf388c91b89c245ea"/>
  </p:notesMasterIdLst>
  <p:sldIdLst>
    <p:sldId xmlns:r="http://schemas.openxmlformats.org/officeDocument/2006/relationships" id="256" r:id="R45e5eb5a8a1548f5"/>
    <p:sldId xmlns:r="http://schemas.openxmlformats.org/officeDocument/2006/relationships" id="257" r:id="Rf78915fedee54a67"/>
    <p:sldId xmlns:r="http://schemas.openxmlformats.org/officeDocument/2006/relationships" id="258" r:id="R6a5565728bb64f56"/>
    <p:sldId xmlns:r="http://schemas.openxmlformats.org/officeDocument/2006/relationships" id="259" r:id="R6bda933989d344ae"/>
    <p:sldId xmlns:r="http://schemas.openxmlformats.org/officeDocument/2006/relationships" id="260" r:id="R0cfcd9a8e4114330"/>
    <p:sldId xmlns:r="http://schemas.openxmlformats.org/officeDocument/2006/relationships" id="261" r:id="Rf1236c1bbbce476d"/>
    <p:sldId xmlns:r="http://schemas.openxmlformats.org/officeDocument/2006/relationships" id="262" r:id="R7d9d9218df124a4c"/>
    <p:sldId xmlns:r="http://schemas.openxmlformats.org/officeDocument/2006/relationships" id="263" r:id="R179f5916516f4ae3"/>
    <p:sldId xmlns:r="http://schemas.openxmlformats.org/officeDocument/2006/relationships" id="264" r:id="R605b3993d49747f1"/>
    <p:sldId xmlns:r="http://schemas.openxmlformats.org/officeDocument/2006/relationships" id="265" r:id="R370fd22963a643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eb9b966a2d4703" /><Relationship Type="http://schemas.openxmlformats.org/officeDocument/2006/relationships/slideMaster" Target="/ppt/slideMasters/slideMaster1.xml" Id="R88be191bdd4543dd" /><Relationship Type="http://schemas.openxmlformats.org/officeDocument/2006/relationships/notesMaster" Target="/ppt/notesMasters/notesMaster1.xml" Id="Rf388c91b89c245ea" /><Relationship Type="http://schemas.openxmlformats.org/officeDocument/2006/relationships/presProps" Target="/ppt/presProps.xml" Id="R5dcdb920667642a7" /><Relationship Type="http://schemas.openxmlformats.org/officeDocument/2006/relationships/tableStyles" Target="/ppt/tableStyles.xml" Id="Rb0604de5b1f64107" /><Relationship Type="http://schemas.openxmlformats.org/officeDocument/2006/relationships/slide" Target="/ppt/slides/slide1.xml" Id="R45e5eb5a8a1548f5" /><Relationship Type="http://schemas.openxmlformats.org/officeDocument/2006/relationships/slide" Target="/ppt/slides/slide2.xml" Id="Rf78915fedee54a67" /><Relationship Type="http://schemas.openxmlformats.org/officeDocument/2006/relationships/slide" Target="/ppt/slides/slide3.xml" Id="R6a5565728bb64f56" /><Relationship Type="http://schemas.openxmlformats.org/officeDocument/2006/relationships/slide" Target="/ppt/slides/slide4.xml" Id="R6bda933989d344ae" /><Relationship Type="http://schemas.openxmlformats.org/officeDocument/2006/relationships/slide" Target="/ppt/slides/slide5.xml" Id="R0cfcd9a8e4114330" /><Relationship Type="http://schemas.openxmlformats.org/officeDocument/2006/relationships/slide" Target="/ppt/slides/slide6.xml" Id="Rf1236c1bbbce476d" /><Relationship Type="http://schemas.openxmlformats.org/officeDocument/2006/relationships/slide" Target="/ppt/slides/slide7.xml" Id="R7d9d9218df124a4c" /><Relationship Type="http://schemas.openxmlformats.org/officeDocument/2006/relationships/slide" Target="/ppt/slides/slide8.xml" Id="R179f5916516f4ae3" /><Relationship Type="http://schemas.openxmlformats.org/officeDocument/2006/relationships/slide" Target="/ppt/slides/slide9.xml" Id="R605b3993d49747f1" /><Relationship Type="http://schemas.openxmlformats.org/officeDocument/2006/relationships/slide" Target="/ppt/slides/slide10.xml" Id="R370fd22963a643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ece48f0e0d46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48b79bb3774f86" /><Relationship Type="http://schemas.openxmlformats.org/officeDocument/2006/relationships/notesMaster" Target="/ppt/notesMasters/notesMaster1.xml" Id="R2c7dc47338b74d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2e364550a44cd5" /><Relationship Type="http://schemas.openxmlformats.org/officeDocument/2006/relationships/notesMaster" Target="/ppt/notesMasters/notesMaster1.xml" Id="Rf47e39946ee841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eed8235674152" /><Relationship Type="http://schemas.openxmlformats.org/officeDocument/2006/relationships/notesMaster" Target="/ppt/notesMasters/notesMaster1.xml" Id="Rb12cbff542ce45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566a951b5c4319" /><Relationship Type="http://schemas.openxmlformats.org/officeDocument/2006/relationships/notesMaster" Target="/ppt/notesMasters/notesMaster1.xml" Id="Rc9d27aad3b314e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1b8d6791d14ed3" /><Relationship Type="http://schemas.openxmlformats.org/officeDocument/2006/relationships/notesMaster" Target="/ppt/notesMasters/notesMaster1.xml" Id="Rea6a23d62cd344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f113bcf57242b9" /><Relationship Type="http://schemas.openxmlformats.org/officeDocument/2006/relationships/notesMaster" Target="/ppt/notesMasters/notesMaster1.xml" Id="R3c9cd2de424b45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c5f68fc3824722" /><Relationship Type="http://schemas.openxmlformats.org/officeDocument/2006/relationships/notesMaster" Target="/ppt/notesMasters/notesMaster1.xml" Id="R5477720794f048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175cd596a4bb8" /><Relationship Type="http://schemas.openxmlformats.org/officeDocument/2006/relationships/notesMaster" Target="/ppt/notesMasters/notesMaster1.xml" Id="R6c7315f0452f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2ab158d3154e23" /><Relationship Type="http://schemas.openxmlformats.org/officeDocument/2006/relationships/notesMaster" Target="/ppt/notesMasters/notesMaster1.xml" Id="R9ee268d9f8de41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9c8e1a21be48f0" /><Relationship Type="http://schemas.openxmlformats.org/officeDocument/2006/relationships/notesMaster" Target="/ppt/notesMasters/notesMaster1.xml" Id="R02987aaf6b83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b27e4edbe46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bec2d1cb14242" /><Relationship Type="http://schemas.openxmlformats.org/officeDocument/2006/relationships/slideLayout" Target="/ppt/slideLayouts/slideLayout1.xml" Id="R466a47c3a9b5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a47c3a9b5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11da5e4a2479a" /><Relationship Type="http://schemas.openxmlformats.org/officeDocument/2006/relationships/notesSlide" Target="/ppt/notesSlides/notesSlide1.xml" Id="Rb0c150cee730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801e739b9443c" /><Relationship Type="http://schemas.openxmlformats.org/officeDocument/2006/relationships/notesSlide" Target="/ppt/notesSlides/notesSlide2.xml" Id="Ra598f53274a644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a5dc43edb4bdf" /><Relationship Type="http://schemas.openxmlformats.org/officeDocument/2006/relationships/notesSlide" Target="/ppt/notesSlides/notesSlide3.xml" Id="R3a42192a4e84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5dbbf0be94fcf" /><Relationship Type="http://schemas.openxmlformats.org/officeDocument/2006/relationships/notesSlide" Target="/ppt/notesSlides/notesSlide4.xml" Id="R13ca25a8338b43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b12810cb6420d" /><Relationship Type="http://schemas.openxmlformats.org/officeDocument/2006/relationships/image" Target="/ppt/media/image.png" Id="R4684d8f75cc14d2f" /><Relationship Type="http://schemas.openxmlformats.org/officeDocument/2006/relationships/notesSlide" Target="/ppt/notesSlides/notesSlide5.xml" Id="R293231a85cf8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48c0abe384877" /><Relationship Type="http://schemas.openxmlformats.org/officeDocument/2006/relationships/notesSlide" Target="/ppt/notesSlides/notesSlide6.xml" Id="R13bbcf69d06545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d935c794d4f93" /><Relationship Type="http://schemas.openxmlformats.org/officeDocument/2006/relationships/chart" Target="/ppt/slides/charts/chart1.xml" Id="Re839ba01d8db44f4" /><Relationship Type="http://schemas.openxmlformats.org/officeDocument/2006/relationships/notesSlide" Target="/ppt/notesSlides/notesSlide7.xml" Id="Rdaa8fe4410f547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5d9f6b59c4a7f" /><Relationship Type="http://schemas.openxmlformats.org/officeDocument/2006/relationships/notesSlide" Target="/ppt/notesSlides/notesSlide8.xml" Id="R8ae8d464ab484f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e3fb14944451a" /><Relationship Type="http://schemas.openxmlformats.org/officeDocument/2006/relationships/notesSlide" Target="/ppt/notesSlides/notesSlide9.xml" Id="R14ce21687dac4e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5f4ca4dab4a5a" /><Relationship Type="http://schemas.openxmlformats.org/officeDocument/2006/relationships/notesSlide" Target="/ppt/notesSlides/notesSlide10.xml" Id="R0c5f3e8ada934c16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Collapse cases / 120 simulations</c:v>
          </c:tx>
          <c:spPr>
            <a:solidFill xmlns:a="http://schemas.openxmlformats.org/drawingml/2006/main">
              <a:srgbClr val="54D5F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Evolutionary</c:v>
              </c:pt>
              <c:pt idx="1">
                <c:v>Graph centrality</c:v>
              </c:pt>
              <c:pt idx="2">
                <c:v>Criticality</c:v>
              </c:pt>
              <c:pt idx="3">
                <c:v>Uniform random</c:v>
              </c:pt>
            </c:strLit>
          </c:cat>
          <c:val>
            <c:numLit>
              <c:formatCode>General</c:formatCode>
              <c:ptCount val="4"/>
              <c:pt idx="0">
                <c:v>61</c:v>
              </c:pt>
              <c:pt idx="1">
                <c:v>54</c:v>
              </c:pt>
              <c:pt idx="2">
                <c:v>49</c:v>
              </c:pt>
              <c:pt idx="3">
                <c:v>43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24324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A2BE77-A313-41F9-B0B7-41C380F1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49"/>
          </a:solidFill>
          <a:ln xmlns:a="http://schemas.openxmlformats.org/drawingml/2006/main" w="0">
            <a:solidFill>
              <a:srgbClr val="FF5F49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96032F1-4A63-45E5-A123-74A3D1F1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MOONSHOT BLUEPRINT</a:t>
            </a:r>
          </a:p>
        </p:txBody>
      </p:sp>
      <p:sp>
        <p:nvSpPr>
          <p:cNvPr id="3" name="title-a">
            <a:extLst xmlns:a="http://schemas.openxmlformats.org/drawingml/2006/main">
              <a:ext uri="{FF2B5EF4-FFF2-40B4-BE49-F238E27FC236}">
                <a16:creationId xmlns:a16="http://schemas.microsoft.com/office/drawing/2014/main" id="{04EBE3E3-7E49-4E2F-B236-FBFC9796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EDF3FA"/>
                </a:solidFill>
              </a:defRPr>
            </a:pPr>
            <a:r>
              <a:rPr sz="4500" b="1">
                <a:solidFill>
                  <a:srgbClr val="EDF3FA"/>
                </a:solidFill>
              </a:rPr>
              <a:t>BLACK SWAN</a:t>
            </a:r>
          </a:p>
        </p:txBody>
      </p:sp>
      <p:sp>
        <p:nvSpPr>
          <p:cNvPr id="4" name="title-b">
            <a:extLst xmlns:a="http://schemas.openxmlformats.org/drawingml/2006/main">
              <a:ext uri="{FF2B5EF4-FFF2-40B4-BE49-F238E27FC236}">
                <a16:creationId xmlns:a16="http://schemas.microsoft.com/office/drawing/2014/main" id="{4121648D-76B9-4321-8DF0-6C9D0E13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5F49"/>
                </a:solidFill>
              </a:defRPr>
            </a:pPr>
            <a:r>
              <a:rPr sz="4500" b="1">
                <a:solidFill>
                  <a:srgbClr val="FF5F49"/>
                </a:solidFill>
              </a:rPr>
              <a:t>FORGE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133F5FD1-9374-4C92-BE74-8B6D7050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DF3FA"/>
                </a:solidFill>
              </a:defRPr>
            </a:pPr>
            <a:r>
              <a:rPr sz="2025" b="1">
                <a:solidFill>
                  <a:srgbClr val="EDF3FA"/>
                </a:solidFill>
              </a:rPr>
              <a:t>Discover disasters nobody thought to test.</a:t>
            </a:r>
          </a:p>
          <a:p xmlns:a="http://schemas.openxmlformats.org/drawingml/2006/main">
            <a:pPr algn="l">
              <a:defRPr sz="2025" b="1">
                <a:solidFill>
                  <a:srgbClr val="EDF3FA"/>
                </a:solidFill>
              </a:defRPr>
            </a:pPr>
            <a:r>
              <a:rPr sz="2025" b="1">
                <a:solidFill>
                  <a:srgbClr val="EDF3FA"/>
                </a:solidFill>
              </a:rPr>
              <a:t>Find the smallest repair before people pay the cost.</a:t>
            </a:r>
          </a:p>
        </p:txBody>
      </p:sp>
      <p:sp>
        <p:nvSpPr>
          <p:cNvPr id="6" name="category">
            <a:extLst xmlns:a="http://schemas.openxmlformats.org/drawingml/2006/main">
              <a:ext uri="{FF2B5EF4-FFF2-40B4-BE49-F238E27FC236}">
                <a16:creationId xmlns:a16="http://schemas.microsoft.com/office/drawing/2014/main" id="{F53EAC9A-988B-4B1E-ACA0-CC3531E1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D5FF"/>
                </a:solidFill>
              </a:defRPr>
            </a:pPr>
            <a:r>
              <a:rPr sz="975" b="1">
                <a:solidFill>
                  <a:srgbClr val="54D5FF"/>
                </a:solidFill>
              </a:rPr>
              <a:t>ADVERSARIAL INFRASTRUCTURE SCIENCE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116E718D-BC4D-44F7-9DAD-632D54DF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91A8"/>
                </a:solidFill>
              </a:defRPr>
            </a:pPr>
            <a:r>
              <a:rPr sz="900" b="0">
                <a:solidFill>
                  <a:srgbClr val="7F91A8"/>
                </a:solidFill>
              </a:rPr>
              <a:t>Synthetic research prototype · Plausible under the assumptions of this model.</a:t>
            </a:r>
          </a:p>
        </p:txBody>
      </p:sp>
    </p:spTree>
    <p:extLst>
      <p:ext uri="{BB962C8B-B14F-4D97-AF65-F5344CB8AC3E}">
        <p14:creationId xmlns:p14="http://schemas.microsoft.com/office/powerpoint/2010/main" val="2078559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2">
            <a:extLst xmlns:a="http://schemas.openxmlformats.org/drawingml/2006/main">
              <a:ext uri="{FF2B5EF4-FFF2-40B4-BE49-F238E27FC236}">
                <a16:creationId xmlns:a16="http://schemas.microsoft.com/office/drawing/2014/main" id="{AC960426-2640-440F-93BA-52EE4F21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E9DC6C77-AB76-4F90-8A85-6DF4269C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THE MISUNDERSTOOD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9C75B-DC23-4552-9406-7E2CA7BC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7956FF1-8D8C-4002-9D71-5D7CA87A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386F99-69F6-49B8-8C44-58BE1C7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We cannot monitor a failure nobody has imagined.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71BF20A-2B69-413D-8EAF-927EAA35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Cities are locally resilient—and globally brittle.</a:t>
            </a:r>
          </a:p>
        </p:txBody>
      </p:sp>
      <p:sp>
        <p:nvSpPr>
          <p:cNvPr id="7" name="local">
            <a:extLst xmlns:a="http://schemas.openxmlformats.org/drawingml/2006/main">
              <a:ext uri="{FF2B5EF4-FFF2-40B4-BE49-F238E27FC236}">
                <a16:creationId xmlns:a16="http://schemas.microsoft.com/office/drawing/2014/main" id="{882DCA1D-5BA7-45BE-A04E-52A3E499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4D5FF"/>
                </a:solidFill>
              </a:defRPr>
            </a:pPr>
            <a:r>
              <a:rPr sz="900" b="1">
                <a:solidFill>
                  <a:srgbClr val="54D5FF"/>
                </a:solidFill>
              </a:rPr>
              <a:t>LOCAL VIEW</a:t>
            </a:r>
          </a:p>
        </p:txBody>
      </p:sp>
      <p:sp>
        <p:nvSpPr>
          <p:cNvPr id="8" name="local-copy">
            <a:extLst xmlns:a="http://schemas.openxmlformats.org/drawingml/2006/main">
              <a:ext uri="{FF2B5EF4-FFF2-40B4-BE49-F238E27FC236}">
                <a16:creationId xmlns:a16="http://schemas.microsoft.com/office/drawing/2014/main" id="{AAD53703-E2C2-4590-B557-55420F4C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Power healthy</a:t>
            </a:r>
          </a:p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Hospital generator ready</a:t>
            </a:r>
          </a:p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Fuel inventory available</a:t>
            </a:r>
          </a:p>
        </p:txBody>
      </p:sp>
      <p:sp>
        <p:nvSpPr>
          <p:cNvPr id="9" name="neq">
            <a:extLst xmlns:a="http://schemas.openxmlformats.org/drawingml/2006/main">
              <a:ext uri="{FF2B5EF4-FFF2-40B4-BE49-F238E27FC236}">
                <a16:creationId xmlns:a16="http://schemas.microsoft.com/office/drawing/2014/main" id="{72DEF7F8-4088-4820-93F7-C9FAECFC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956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5F49"/>
                </a:solidFill>
              </a:defRPr>
            </a:pPr>
            <a:r>
              <a:rPr sz="4500" b="1">
                <a:solidFill>
                  <a:srgbClr val="FF5F49"/>
                </a:solidFill>
              </a:rPr>
              <a:t>≠</a:t>
            </a:r>
          </a:p>
        </p:txBody>
      </p:sp>
      <p:sp>
        <p:nvSpPr>
          <p:cNvPr id="10" name="system">
            <a:extLst xmlns:a="http://schemas.openxmlformats.org/drawingml/2006/main">
              <a:ext uri="{FF2B5EF4-FFF2-40B4-BE49-F238E27FC236}">
                <a16:creationId xmlns:a16="http://schemas.microsoft.com/office/drawing/2014/main" id="{87666EB6-0F97-47E2-B80F-53FC3DD8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14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SYSTEM REALITY</a:t>
            </a:r>
          </a:p>
        </p:txBody>
      </p:sp>
      <p:sp>
        <p:nvSpPr>
          <p:cNvPr id="11" name="system-copy">
            <a:extLst xmlns:a="http://schemas.openxmlformats.org/drawingml/2006/main">
              <a:ext uri="{FF2B5EF4-FFF2-40B4-BE49-F238E27FC236}">
                <a16:creationId xmlns:a16="http://schemas.microsoft.com/office/drawing/2014/main" id="{B3149ED5-C96E-4CB6-B5EA-B9E090C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Authentication fails</a:t>
            </a:r>
          </a:p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Payments stop</a:t>
            </a:r>
          </a:p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Fuel delivery stops</a:t>
            </a:r>
          </a:p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Hospital capacity collapses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241C2-B1FF-4FC9-A2C3-22F6FB4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13" name="insight">
            <a:extLst xmlns:a="http://schemas.openxmlformats.org/drawingml/2006/main">
              <a:ext uri="{FF2B5EF4-FFF2-40B4-BE49-F238E27FC236}">
                <a16:creationId xmlns:a16="http://schemas.microsoft.com/office/drawing/2014/main" id="{0B580A65-816F-4E3E-BBF1-8475510E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84D"/>
                </a:solidFill>
              </a:defRPr>
            </a:pPr>
            <a:r>
              <a:rPr sz="2025" b="1">
                <a:solidFill>
                  <a:srgbClr val="FFB84D"/>
                </a:solidFill>
              </a:rPr>
              <a:t>The deeper problem is epistemic: which cross-domain counterexamples have we failed to imagine?</a:t>
            </a:r>
          </a:p>
        </p:txBody>
      </p:sp>
    </p:spTree>
    <p:extLst>
      <p:ext uri="{BB962C8B-B14F-4D97-AF65-F5344CB8AC3E}">
        <p14:creationId xmlns:p14="http://schemas.microsoft.com/office/powerpoint/2010/main" val="649646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3">
            <a:extLst xmlns:a="http://schemas.openxmlformats.org/drawingml/2006/main">
              <a:ext uri="{FF2B5EF4-FFF2-40B4-BE49-F238E27FC236}">
                <a16:creationId xmlns:a16="http://schemas.microsoft.com/office/drawing/2014/main" id="{8793A9EF-92A0-4C02-AAE8-3121CA14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F936FACB-7FC7-4C52-AE47-7E1A9E56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ZERO TO 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98402-5504-49BF-AC3C-2CD11DF8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4BB28B3-8BA2-4156-B137-19DDB073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99A196-DB3E-434E-A8CD-CAED9215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A new category—not another dashboard.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E8A02D-5302-4C4B-8CD3-12D6E48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Existing tools begin with known conditions. BLACK SWAN FORGE searches for unknown mechanisms.</a:t>
            </a:r>
          </a:p>
        </p:txBody>
      </p:sp>
      <p:sp>
        <p:nvSpPr>
          <p:cNvPr id="7" name="l0">
            <a:extLst xmlns:a="http://schemas.openxmlformats.org/drawingml/2006/main">
              <a:ext uri="{FF2B5EF4-FFF2-40B4-BE49-F238E27FC236}">
                <a16:creationId xmlns:a16="http://schemas.microsoft.com/office/drawing/2014/main" id="{F2FEFD12-7B8C-4B22-A6FF-92A5415A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F91A8"/>
                </a:solidFill>
              </a:defRPr>
            </a:pPr>
            <a:r>
              <a:rPr sz="900" b="1">
                <a:solidFill>
                  <a:srgbClr val="7F91A8"/>
                </a:solidFill>
              </a:rPr>
              <a:t>MONITORING</a:t>
            </a:r>
          </a:p>
        </p:txBody>
      </p:sp>
      <p:sp>
        <p:nvSpPr>
          <p:cNvPr id="8" name="q0">
            <a:extLst xmlns:a="http://schemas.openxmlformats.org/drawingml/2006/main">
              <a:ext uri="{FF2B5EF4-FFF2-40B4-BE49-F238E27FC236}">
                <a16:creationId xmlns:a16="http://schemas.microsoft.com/office/drawing/2014/main" id="{198D38AF-0EED-4315-8A2E-FBFB374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What is failing now?</a:t>
            </a:r>
          </a:p>
        </p:txBody>
      </p:sp>
      <p:sp>
        <p:nvSpPr>
          <p:cNvPr id="9" name="d0">
            <a:extLst xmlns:a="http://schemas.openxmlformats.org/drawingml/2006/main">
              <a:ext uri="{FF2B5EF4-FFF2-40B4-BE49-F238E27FC236}">
                <a16:creationId xmlns:a16="http://schemas.microsoft.com/office/drawing/2014/main" id="{15A1371E-ACD1-4191-AA80-FEB3ACED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Observe known deviations.</a:t>
            </a:r>
          </a:p>
        </p:txBody>
      </p:sp>
      <p:sp>
        <p:nvSpPr>
          <p:cNvPr id="10" name="l1">
            <a:extLst xmlns:a="http://schemas.openxmlformats.org/drawingml/2006/main">
              <a:ext uri="{FF2B5EF4-FFF2-40B4-BE49-F238E27FC236}">
                <a16:creationId xmlns:a16="http://schemas.microsoft.com/office/drawing/2014/main" id="{33C018AC-2CCA-4C4A-93AE-FD119806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F91A8"/>
                </a:solidFill>
              </a:defRPr>
            </a:pPr>
            <a:r>
              <a:rPr sz="900" b="1">
                <a:solidFill>
                  <a:srgbClr val="7F91A8"/>
                </a:solidFill>
              </a:rPr>
              <a:t>DIGITAL TWINS</a:t>
            </a:r>
          </a:p>
        </p:txBody>
      </p:sp>
      <p:sp>
        <p:nvSpPr>
          <p:cNvPr id="11" name="q1">
            <a:extLst xmlns:a="http://schemas.openxmlformats.org/drawingml/2006/main">
              <a:ext uri="{FF2B5EF4-FFF2-40B4-BE49-F238E27FC236}">
                <a16:creationId xmlns:a16="http://schemas.microsoft.com/office/drawing/2014/main" id="{FEED7FF1-037D-4401-8BEB-2E60B20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What will this scenario do?</a:t>
            </a:r>
          </a:p>
        </p:txBody>
      </p:sp>
      <p:sp>
        <p:nvSpPr>
          <p:cNvPr id="12" name="d1">
            <a:extLst xmlns:a="http://schemas.openxmlformats.org/drawingml/2006/main">
              <a:ext uri="{FF2B5EF4-FFF2-40B4-BE49-F238E27FC236}">
                <a16:creationId xmlns:a16="http://schemas.microsoft.com/office/drawing/2014/main" id="{2798CF26-1665-47C0-BC27-F897CAB9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718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Replay expected behavior.</a:t>
            </a:r>
          </a:p>
        </p:txBody>
      </p:sp>
      <p:sp>
        <p:nvSpPr>
          <p:cNvPr id="13" name="l2">
            <a:extLst xmlns:a="http://schemas.openxmlformats.org/drawingml/2006/main">
              <a:ext uri="{FF2B5EF4-FFF2-40B4-BE49-F238E27FC236}">
                <a16:creationId xmlns:a16="http://schemas.microsoft.com/office/drawing/2014/main" id="{E90C65FA-2183-4C1A-A1A0-64895D51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F91A8"/>
                </a:solidFill>
              </a:defRPr>
            </a:pPr>
            <a:r>
              <a:rPr sz="900" b="1">
                <a:solidFill>
                  <a:srgbClr val="7F91A8"/>
                </a:solidFill>
              </a:rPr>
              <a:t>CHAOS ENGINEERING</a:t>
            </a:r>
          </a:p>
        </p:txBody>
      </p:sp>
      <p:sp>
        <p:nvSpPr>
          <p:cNvPr id="14" name="q2">
            <a:extLst xmlns:a="http://schemas.openxmlformats.org/drawingml/2006/main">
              <a:ext uri="{FF2B5EF4-FFF2-40B4-BE49-F238E27FC236}">
                <a16:creationId xmlns:a16="http://schemas.microsoft.com/office/drawing/2014/main" id="{D1A949D1-C30E-4E96-9F03-0F0FDAC1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860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Does this chosen fault survive?</a:t>
            </a:r>
          </a:p>
        </p:txBody>
      </p:sp>
      <p:sp>
        <p:nvSpPr>
          <p:cNvPr id="15" name="d2">
            <a:extLst xmlns:a="http://schemas.openxmlformats.org/drawingml/2006/main">
              <a:ext uri="{FF2B5EF4-FFF2-40B4-BE49-F238E27FC236}">
                <a16:creationId xmlns:a16="http://schemas.microsoft.com/office/drawing/2014/main" id="{F50B156A-6F76-4B45-B2D7-4E7DAAEA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718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Test a human hypothesis.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037AF-CC9D-4658-9A54-95339328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49"/>
          </a:solidFill>
          <a:ln xmlns:a="http://schemas.openxmlformats.org/drawingml/2006/main" w="0">
            <a:solidFill>
              <a:srgbClr val="FF5F49"/>
            </a:solidFill>
            <a:prstDash val="solid"/>
          </a:ln>
        </p:spPr>
      </p:sp>
      <p:sp>
        <p:nvSpPr>
          <p:cNvPr id="17" name="forge-label">
            <a:extLst xmlns:a="http://schemas.openxmlformats.org/drawingml/2006/main">
              <a:ext uri="{FF2B5EF4-FFF2-40B4-BE49-F238E27FC236}">
                <a16:creationId xmlns:a16="http://schemas.microsoft.com/office/drawing/2014/main" id="{F6B68D6E-FB1A-4DCF-A7E7-9A78E810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F49"/>
                </a:solidFill>
              </a:defRPr>
            </a:pPr>
            <a:r>
              <a:rPr sz="1050" b="1">
                <a:solidFill>
                  <a:srgbClr val="FF5F49"/>
                </a:solidFill>
              </a:rPr>
              <a:t>BLACK SWAN FORGE</a:t>
            </a:r>
          </a:p>
        </p:txBody>
      </p:sp>
      <p:sp>
        <p:nvSpPr>
          <p:cNvPr id="18" name="forge-q">
            <a:extLst xmlns:a="http://schemas.openxmlformats.org/drawingml/2006/main">
              <a:ext uri="{FF2B5EF4-FFF2-40B4-BE49-F238E27FC236}">
                <a16:creationId xmlns:a16="http://schemas.microsoft.com/office/drawing/2014/main" id="{4C235F50-33F0-49CA-BBA5-318C332C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DF3FA"/>
                </a:solidFill>
              </a:defRPr>
            </a:pPr>
            <a:r>
              <a:rPr sz="2250" b="1">
                <a:solidFill>
                  <a:srgbClr val="EDF3FA"/>
                </a:solidFill>
              </a:rPr>
              <a:t>What failure nobody rehearsed can collapse the system?</a:t>
            </a:r>
          </a:p>
        </p:txBody>
      </p:sp>
      <p:sp>
        <p:nvSpPr>
          <p:cNvPr id="19" name="forge-flow">
            <a:extLst xmlns:a="http://schemas.openxmlformats.org/drawingml/2006/main">
              <a:ext uri="{FF2B5EF4-FFF2-40B4-BE49-F238E27FC236}">
                <a16:creationId xmlns:a16="http://schemas.microsoft.com/office/drawing/2014/main" id="{D0A6108C-7760-4494-88AF-C501D60B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4D5FF"/>
                </a:solidFill>
              </a:defRPr>
            </a:pPr>
            <a:r>
              <a:rPr sz="1275" b="1">
                <a:solidFill>
                  <a:srgbClr val="54D5FF"/>
                </a:solidFill>
              </a:rPr>
              <a:t>DISCOVER  →  MINIMIZE  →  FALSIFY  →  REPAIR  →  VERIFY</a:t>
            </a:r>
          </a:p>
        </p:txBody>
      </p:sp>
    </p:spTree>
    <p:extLst>
      <p:ext uri="{BB962C8B-B14F-4D97-AF65-F5344CB8AC3E}">
        <p14:creationId xmlns:p14="http://schemas.microsoft.com/office/powerpoint/2010/main" val="4542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4">
            <a:extLst xmlns:a="http://schemas.openxmlformats.org/drawingml/2006/main">
              <a:ext uri="{FF2B5EF4-FFF2-40B4-BE49-F238E27FC236}">
                <a16:creationId xmlns:a16="http://schemas.microsoft.com/office/drawing/2014/main" id="{5807894B-5212-45A0-8092-0A128205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BDEAB2B2-4D61-436D-A9D5-5F189F2C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EXECUTABLE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30176-2BE1-4ADD-A456-BB43043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A7074480-2B7E-486D-871E-C273A1BF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1D7D1C-3536-4F0C-8F90-4F7A3C4E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A disaster becomes an executable counterexample.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855DA3-5063-4EF9-A439-255C5E4F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Every claim must survive replay.</a:t>
            </a:r>
          </a:p>
        </p:txBody>
      </p:sp>
      <p:sp>
        <p:nvSpPr>
          <p:cNvPr id="7" name="arrow0">
            <a:extLst xmlns:a="http://schemas.openxmlformats.org/drawingml/2006/main">
              <a:ext uri="{FF2B5EF4-FFF2-40B4-BE49-F238E27FC236}">
                <a16:creationId xmlns:a16="http://schemas.microsoft.com/office/drawing/2014/main" id="{6EC07094-5606-42E3-8917-B9CACFD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9562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5F49"/>
                </a:solidFill>
              </a:defRPr>
            </a:pPr>
            <a:r>
              <a:rPr sz="240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8" name="step0">
            <a:extLst xmlns:a="http://schemas.openxmlformats.org/drawingml/2006/main">
              <a:ext uri="{FF2B5EF4-FFF2-40B4-BE49-F238E27FC236}">
                <a16:creationId xmlns:a16="http://schemas.microsoft.com/office/drawing/2014/main" id="{18243DF6-0D21-43DE-8789-B7F2688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09750" cy="19050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4202B"/>
          </a:solidFill>
          <a:ln xmlns:a="http://schemas.openxmlformats.org/drawingml/2006/main" w="9525">
            <a:solidFill>
              <a:srgbClr val="54D5FF"/>
            </a:solidFill>
            <a:prstDash val="solid"/>
          </a:ln>
        </p:spPr>
      </p:sp>
      <p:sp>
        <p:nvSpPr>
          <p:cNvPr id="9" name="n0">
            <a:extLst xmlns:a="http://schemas.openxmlformats.org/drawingml/2006/main">
              <a:ext uri="{FF2B5EF4-FFF2-40B4-BE49-F238E27FC236}">
                <a16:creationId xmlns:a16="http://schemas.microsoft.com/office/drawing/2014/main" id="{A9170E22-B3CF-468B-8358-67A8E1CE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01</a:t>
            </a:r>
          </a:p>
        </p:txBody>
      </p:sp>
      <p:sp>
        <p:nvSpPr>
          <p:cNvPr id="10" name="h0">
            <a:extLst xmlns:a="http://schemas.openxmlformats.org/drawingml/2006/main">
              <a:ext uri="{FF2B5EF4-FFF2-40B4-BE49-F238E27FC236}">
                <a16:creationId xmlns:a16="http://schemas.microsoft.com/office/drawing/2014/main" id="{E953A6A0-FEB2-4030-B876-3D39166A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A"/>
                </a:solidFill>
              </a:defRPr>
            </a:pPr>
            <a:r>
              <a:rPr sz="1650" b="1">
                <a:solidFill>
                  <a:srgbClr val="EDF3FA"/>
                </a:solidFill>
              </a:rPr>
              <a:t>DISCOVER</a:t>
            </a:r>
          </a:p>
        </p:txBody>
      </p:sp>
      <p:sp>
        <p:nvSpPr>
          <p:cNvPr id="11" name="b0">
            <a:extLst xmlns:a="http://schemas.openxmlformats.org/drawingml/2006/main">
              <a:ext uri="{FF2B5EF4-FFF2-40B4-BE49-F238E27FC236}">
                <a16:creationId xmlns:a16="http://schemas.microsoft.com/office/drawing/2014/main" id="{C950ED95-8F30-43AA-9CF3-C6044CD2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Evolutionary search</a:t>
            </a:r>
          </a:p>
        </p:txBody>
      </p:sp>
      <p:sp>
        <p:nvSpPr>
          <p:cNvPr id="12" name="arrow1">
            <a:extLst xmlns:a="http://schemas.openxmlformats.org/drawingml/2006/main">
              <a:ext uri="{FF2B5EF4-FFF2-40B4-BE49-F238E27FC236}">
                <a16:creationId xmlns:a16="http://schemas.microsoft.com/office/drawing/2014/main" id="{B0381D89-7CA5-4DD0-B1B8-05B6C246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9562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5F49"/>
                </a:solidFill>
              </a:defRPr>
            </a:pPr>
            <a:r>
              <a:rPr sz="240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13" name="step1">
            <a:extLst xmlns:a="http://schemas.openxmlformats.org/drawingml/2006/main">
              <a:ext uri="{FF2B5EF4-FFF2-40B4-BE49-F238E27FC236}">
                <a16:creationId xmlns:a16="http://schemas.microsoft.com/office/drawing/2014/main" id="{A352DC28-B5C8-4011-88AC-24484836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09750" cy="19050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4" name="n1">
            <a:extLst xmlns:a="http://schemas.openxmlformats.org/drawingml/2006/main">
              <a:ext uri="{FF2B5EF4-FFF2-40B4-BE49-F238E27FC236}">
                <a16:creationId xmlns:a16="http://schemas.microsoft.com/office/drawing/2014/main" id="{9E2A497A-9659-435B-8811-AEBC30A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02</a:t>
            </a:r>
          </a:p>
        </p:txBody>
      </p:sp>
      <p:sp>
        <p:nvSpPr>
          <p:cNvPr id="15" name="h1">
            <a:extLst xmlns:a="http://schemas.openxmlformats.org/drawingml/2006/main">
              <a:ext uri="{FF2B5EF4-FFF2-40B4-BE49-F238E27FC236}">
                <a16:creationId xmlns:a16="http://schemas.microsoft.com/office/drawing/2014/main" id="{E2504827-3E9C-4C10-9488-7C755723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A"/>
                </a:solidFill>
              </a:defRPr>
            </a:pPr>
            <a:r>
              <a:rPr sz="1650" b="1">
                <a:solidFill>
                  <a:srgbClr val="EDF3FA"/>
                </a:solidFill>
              </a:rPr>
              <a:t>MINIMIZE</a:t>
            </a:r>
          </a:p>
        </p:txBody>
      </p:sp>
      <p:sp>
        <p:nvSpPr>
          <p:cNvPr id="16" name="b1">
            <a:extLst xmlns:a="http://schemas.openxmlformats.org/drawingml/2006/main">
              <a:ext uri="{FF2B5EF4-FFF2-40B4-BE49-F238E27FC236}">
                <a16:creationId xmlns:a16="http://schemas.microsoft.com/office/drawing/2014/main" id="{B9373565-9286-4E70-9A0D-B408C1CC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Delta debugging</a:t>
            </a:r>
          </a:p>
        </p:txBody>
      </p:sp>
      <p:sp>
        <p:nvSpPr>
          <p:cNvPr id="17" name="arrow2">
            <a:extLst xmlns:a="http://schemas.openxmlformats.org/drawingml/2006/main">
              <a:ext uri="{FF2B5EF4-FFF2-40B4-BE49-F238E27FC236}">
                <a16:creationId xmlns:a16="http://schemas.microsoft.com/office/drawing/2014/main" id="{F891EE89-85E4-4617-9921-813FA780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9562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5F49"/>
                </a:solidFill>
              </a:defRPr>
            </a:pPr>
            <a:r>
              <a:rPr sz="240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18" name="step2">
            <a:extLst xmlns:a="http://schemas.openxmlformats.org/drawingml/2006/main">
              <a:ext uri="{FF2B5EF4-FFF2-40B4-BE49-F238E27FC236}">
                <a16:creationId xmlns:a16="http://schemas.microsoft.com/office/drawing/2014/main" id="{DCF97B52-02F5-4332-933E-F9AE3EDD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809750" cy="19050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19" name="n2">
            <a:extLst xmlns:a="http://schemas.openxmlformats.org/drawingml/2006/main">
              <a:ext uri="{FF2B5EF4-FFF2-40B4-BE49-F238E27FC236}">
                <a16:creationId xmlns:a16="http://schemas.microsoft.com/office/drawing/2014/main" id="{04016F8F-3EE5-40AB-BDFF-4391E141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03</a:t>
            </a:r>
          </a:p>
        </p:txBody>
      </p:sp>
      <p:sp>
        <p:nvSpPr>
          <p:cNvPr id="20" name="h2">
            <a:extLst xmlns:a="http://schemas.openxmlformats.org/drawingml/2006/main">
              <a:ext uri="{FF2B5EF4-FFF2-40B4-BE49-F238E27FC236}">
                <a16:creationId xmlns:a16="http://schemas.microsoft.com/office/drawing/2014/main" id="{A9C2F0CC-C83C-448A-A8DB-FFF0C28C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A"/>
                </a:solidFill>
              </a:defRPr>
            </a:pPr>
            <a:r>
              <a:rPr sz="1650" b="1">
                <a:solidFill>
                  <a:srgbClr val="EDF3FA"/>
                </a:solidFill>
              </a:rPr>
              <a:t>FALSIFY</a:t>
            </a:r>
          </a:p>
        </p:txBody>
      </p:sp>
      <p:sp>
        <p:nvSpPr>
          <p:cNvPr id="21" name="b2">
            <a:extLst xmlns:a="http://schemas.openxmlformats.org/drawingml/2006/main">
              <a:ext uri="{FF2B5EF4-FFF2-40B4-BE49-F238E27FC236}">
                <a16:creationId xmlns:a16="http://schemas.microsoft.com/office/drawing/2014/main" id="{BC3E34BC-3B6D-4B26-8BBC-63FF8799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Delete causal links</a:t>
            </a:r>
          </a:p>
        </p:txBody>
      </p:sp>
      <p:sp>
        <p:nvSpPr>
          <p:cNvPr id="22" name="arrow3">
            <a:extLst xmlns:a="http://schemas.openxmlformats.org/drawingml/2006/main">
              <a:ext uri="{FF2B5EF4-FFF2-40B4-BE49-F238E27FC236}">
                <a16:creationId xmlns:a16="http://schemas.microsoft.com/office/drawing/2014/main" id="{C720007D-7D1C-46AB-9F18-4B300B2E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9562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5F49"/>
                </a:solidFill>
              </a:defRPr>
            </a:pPr>
            <a:r>
              <a:rPr sz="240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23" name="step3">
            <a:extLst xmlns:a="http://schemas.openxmlformats.org/drawingml/2006/main">
              <a:ext uri="{FF2B5EF4-FFF2-40B4-BE49-F238E27FC236}">
                <a16:creationId xmlns:a16="http://schemas.microsoft.com/office/drawing/2014/main" id="{F341FE2B-AB19-41DF-9BDA-385B9552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81250"/>
            <a:ext cx="1809750" cy="19050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4" name="n3">
            <a:extLst xmlns:a="http://schemas.openxmlformats.org/drawingml/2006/main">
              <a:ext uri="{FF2B5EF4-FFF2-40B4-BE49-F238E27FC236}">
                <a16:creationId xmlns:a16="http://schemas.microsoft.com/office/drawing/2014/main" id="{360C42DC-94AF-4BC3-9A96-24CBA8D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04</a:t>
            </a:r>
          </a:p>
        </p:txBody>
      </p:sp>
      <p:sp>
        <p:nvSpPr>
          <p:cNvPr id="25" name="h3">
            <a:extLst xmlns:a="http://schemas.openxmlformats.org/drawingml/2006/main">
              <a:ext uri="{FF2B5EF4-FFF2-40B4-BE49-F238E27FC236}">
                <a16:creationId xmlns:a16="http://schemas.microsoft.com/office/drawing/2014/main" id="{1CD6AFA2-DC0A-4593-80A1-1E3ABD70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A"/>
                </a:solidFill>
              </a:defRPr>
            </a:pPr>
            <a:r>
              <a:rPr sz="1650" b="1">
                <a:solidFill>
                  <a:srgbClr val="EDF3FA"/>
                </a:solidFill>
              </a:rPr>
              <a:t>REPAIR</a:t>
            </a:r>
          </a:p>
        </p:txBody>
      </p:sp>
      <p:sp>
        <p:nvSpPr>
          <p:cNvPr id="26" name="b3">
            <a:extLst xmlns:a="http://schemas.openxmlformats.org/drawingml/2006/main">
              <a:ext uri="{FF2B5EF4-FFF2-40B4-BE49-F238E27FC236}">
                <a16:creationId xmlns:a16="http://schemas.microsoft.com/office/drawing/2014/main" id="{F30CE9CE-A38C-4CB7-A6A3-1D3C36ED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242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Cost–risk frontier</a:t>
            </a:r>
          </a:p>
        </p:txBody>
      </p:sp>
      <p:sp>
        <p:nvSpPr>
          <p:cNvPr id="27" name="step4">
            <a:extLst xmlns:a="http://schemas.openxmlformats.org/drawingml/2006/main">
              <a:ext uri="{FF2B5EF4-FFF2-40B4-BE49-F238E27FC236}">
                <a16:creationId xmlns:a16="http://schemas.microsoft.com/office/drawing/2014/main" id="{6B898567-C97B-4EC2-9ED5-2983ED62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809750" cy="19050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520"/>
          </a:solidFill>
          <a:ln xmlns:a="http://schemas.openxmlformats.org/drawingml/2006/main" w="9525">
            <a:solidFill>
              <a:srgbClr val="243244"/>
            </a:solidFill>
            <a:prstDash val="solid"/>
          </a:ln>
        </p:spPr>
      </p:sp>
      <p:sp>
        <p:nvSpPr>
          <p:cNvPr id="28" name="n4">
            <a:extLst xmlns:a="http://schemas.openxmlformats.org/drawingml/2006/main">
              <a:ext uri="{FF2B5EF4-FFF2-40B4-BE49-F238E27FC236}">
                <a16:creationId xmlns:a16="http://schemas.microsoft.com/office/drawing/2014/main" id="{C2F72EA6-84E8-4265-9974-0123528C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05</a:t>
            </a:r>
          </a:p>
        </p:txBody>
      </p:sp>
      <p:sp>
        <p:nvSpPr>
          <p:cNvPr id="29" name="h4">
            <a:extLst xmlns:a="http://schemas.openxmlformats.org/drawingml/2006/main">
              <a:ext uri="{FF2B5EF4-FFF2-40B4-BE49-F238E27FC236}">
                <a16:creationId xmlns:a16="http://schemas.microsoft.com/office/drawing/2014/main" id="{95FDBB47-1C14-4364-ABCD-4E1A337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480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3FA"/>
                </a:solidFill>
              </a:defRPr>
            </a:pPr>
            <a:r>
              <a:rPr sz="1650" b="1">
                <a:solidFill>
                  <a:srgbClr val="EDF3FA"/>
                </a:solidFill>
              </a:rPr>
              <a:t>VERIFY</a:t>
            </a:r>
          </a:p>
        </p:txBody>
      </p:sp>
      <p:sp>
        <p:nvSpPr>
          <p:cNvPr id="30" name="b4">
            <a:extLst xmlns:a="http://schemas.openxmlformats.org/drawingml/2006/main">
              <a:ext uri="{FF2B5EF4-FFF2-40B4-BE49-F238E27FC236}">
                <a16:creationId xmlns:a16="http://schemas.microsoft.com/office/drawing/2014/main" id="{DD025296-A8C9-4AC5-A6D9-D1E53E2F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Counterfactual replay</a:t>
            </a:r>
          </a:p>
        </p:txBody>
      </p:sp>
      <p:sp>
        <p:nvSpPr>
          <p:cNvPr id="31" name="evidence">
            <a:extLst xmlns:a="http://schemas.openxmlformats.org/drawingml/2006/main">
              <a:ext uri="{FF2B5EF4-FFF2-40B4-BE49-F238E27FC236}">
                <a16:creationId xmlns:a16="http://schemas.microsoft.com/office/drawing/2014/main" id="{CD5CE350-BC7A-4D5E-87CE-AB518EE7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Output: a reproducible initial condition, event-backed causal trace, measurable collapse, and verified intervention.</a:t>
            </a:r>
          </a:p>
        </p:txBody>
      </p:sp>
      <p:sp>
        <p:nvSpPr>
          <p:cNvPr id="32" name="no-llm">
            <a:extLst xmlns:a="http://schemas.openxmlformats.org/drawingml/2006/main">
              <a:ext uri="{FF2B5EF4-FFF2-40B4-BE49-F238E27FC236}">
                <a16:creationId xmlns:a16="http://schemas.microsoft.com/office/drawing/2014/main" id="{7CA91D87-2658-4BFD-A25C-77B5F2C3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F91A8"/>
                </a:solidFill>
              </a:defRPr>
            </a:pPr>
            <a:r>
              <a:rPr sz="1050" b="0">
                <a:solidFill>
                  <a:srgbClr val="7F91A8"/>
                </a:solidFill>
              </a:rPr>
              <a:t>No paid API. No generated explanation. Deterministic when seeded.</a:t>
            </a:r>
          </a:p>
        </p:txBody>
      </p:sp>
    </p:spTree>
    <p:extLst>
      <p:ext uri="{BB962C8B-B14F-4D97-AF65-F5344CB8AC3E}">
        <p14:creationId xmlns:p14="http://schemas.microsoft.com/office/powerpoint/2010/main" val="2131743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5">
            <a:extLst xmlns:a="http://schemas.openxmlformats.org/drawingml/2006/main">
              <a:ext uri="{FF2B5EF4-FFF2-40B4-BE49-F238E27FC236}">
                <a16:creationId xmlns:a16="http://schemas.microsoft.com/office/drawing/2014/main" id="{D1DE3F9D-7875-4267-AB22-A466F193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C963C6E8-4327-4347-9362-6DD9EDBA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WORKING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D1FB4-EE5E-4C0D-8639-43ECD2A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15B0714-215C-4E14-8578-1AD5B23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1820FA-BEC6-4CBB-B849-6D12DBF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The future is already executable.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2A7C87-4D60-44FC-94FF-A800A991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28 components · 46 delayed dependencies · 11 infrastructure domains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4d8f75cc14d2f"/>
          <a:stretch xmlns:a="http://schemas.openxmlformats.org/drawingml/2006/main"/>
        </p:blipFill>
        <p:spPr>
          <a:xfrm xmlns:a="http://schemas.openxmlformats.org/drawingml/2006/main">
            <a:off x="3003826" y="1952625"/>
            <a:ext cx="6184348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caption">
            <a:extLst xmlns:a="http://schemas.openxmlformats.org/drawingml/2006/main">
              <a:ext uri="{FF2B5EF4-FFF2-40B4-BE49-F238E27FC236}">
                <a16:creationId xmlns:a16="http://schemas.microsoft.com/office/drawing/2014/main" id="{F48E2FFF-B444-4922-9679-8B60114A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4D5FF"/>
                </a:solidFill>
              </a:defRPr>
            </a:pPr>
            <a:r>
              <a:rPr sz="1200" b="1">
                <a:solidFill>
                  <a:srgbClr val="54D5FF"/>
                </a:solidFill>
              </a:rPr>
              <a:t>Healthy city → delayed hospital collapse → minimal causal chain → offline fuel authorization → hospital survives</a:t>
            </a:r>
          </a:p>
        </p:txBody>
      </p:sp>
    </p:spTree>
    <p:extLst>
      <p:ext uri="{BB962C8B-B14F-4D97-AF65-F5344CB8AC3E}">
        <p14:creationId xmlns:p14="http://schemas.microsoft.com/office/powerpoint/2010/main" val="719271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6">
            <a:extLst xmlns:a="http://schemas.openxmlformats.org/drawingml/2006/main">
              <a:ext uri="{FF2B5EF4-FFF2-40B4-BE49-F238E27FC236}">
                <a16:creationId xmlns:a16="http://schemas.microsoft.com/office/drawing/2014/main" id="{E4D85284-F524-461E-B005-CF47BCEB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AD6F90F4-2CAA-49A3-8252-B2529054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THE QUIET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2952F-FF2B-4A87-B373-EBAB6212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B235D0F-4D6A-485D-A2FC-3343A627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30F2BB-2F51-4C8F-8041-8B0A4711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The dangerous part is the delay.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906C89B-674B-485F-8631-1B664C4F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A small identity outage crosses four organizational boundaries before the hospital sees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DECE3-5554-4F36-B9F6-1FA24BC7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432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49"/>
          </a:solidFill>
          <a:ln xmlns:a="http://schemas.openxmlformats.org/drawingml/2006/main" w="0">
            <a:solidFill>
              <a:srgbClr val="FF5F49"/>
            </a:solidFill>
            <a:prstDash val="solid"/>
          </a:ln>
        </p:spPr>
      </p:sp>
      <p:sp>
        <p:nvSpPr>
          <p:cNvPr id="8" name="arr0">
            <a:extLst xmlns:a="http://schemas.openxmlformats.org/drawingml/2006/main">
              <a:ext uri="{FF2B5EF4-FFF2-40B4-BE49-F238E27FC236}">
                <a16:creationId xmlns:a16="http://schemas.microsoft.com/office/drawing/2014/main" id="{979D266C-C5BD-444F-83C8-92CF793E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76550"/>
            <a:ext cx="43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F49"/>
                </a:solidFill>
              </a:defRPr>
            </a:pPr>
            <a:r>
              <a:rPr sz="225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9" name="tick0">
            <a:extLst xmlns:a="http://schemas.openxmlformats.org/drawingml/2006/main">
              <a:ext uri="{FF2B5EF4-FFF2-40B4-BE49-F238E27FC236}">
                <a16:creationId xmlns:a16="http://schemas.microsoft.com/office/drawing/2014/main" id="{50339382-02EC-4AB3-96B0-6701BAA7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T+0</a:t>
            </a:r>
          </a:p>
        </p:txBody>
      </p:sp>
      <p:sp>
        <p:nvSpPr>
          <p:cNvPr id="10" name="event0">
            <a:extLst xmlns:a="http://schemas.openxmlformats.org/drawingml/2006/main">
              <a:ext uri="{FF2B5EF4-FFF2-40B4-BE49-F238E27FC236}">
                <a16:creationId xmlns:a16="http://schemas.microsoft.com/office/drawing/2014/main" id="{43B38434-57C9-47B8-9A94-8ACFFCB6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DF3FA"/>
                </a:solidFill>
              </a:defRPr>
            </a:pPr>
            <a:r>
              <a:rPr sz="1575" b="1">
                <a:solidFill>
                  <a:srgbClr val="EDF3FA"/>
                </a:solidFill>
              </a:rPr>
              <a:t>TELECOM AUTH</a:t>
            </a:r>
          </a:p>
        </p:txBody>
      </p:sp>
      <p:sp>
        <p:nvSpPr>
          <p:cNvPr id="11" name="detail0">
            <a:extLst xmlns:a="http://schemas.openxmlformats.org/drawingml/2006/main">
              <a:ext uri="{FF2B5EF4-FFF2-40B4-BE49-F238E27FC236}">
                <a16:creationId xmlns:a16="http://schemas.microsoft.com/office/drawing/2014/main" id="{C9C4D19E-DE81-4125-9907-9DA6C88A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Certificate service fails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3005D-3612-4B0A-AD58-26F0AAA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432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49"/>
          </a:solidFill>
          <a:ln xmlns:a="http://schemas.openxmlformats.org/drawingml/2006/main" w="0">
            <a:solidFill>
              <a:srgbClr val="FF5F49"/>
            </a:solidFill>
            <a:prstDash val="solid"/>
          </a:ln>
        </p:spPr>
      </p:sp>
      <p:sp>
        <p:nvSpPr>
          <p:cNvPr id="13" name="arr1">
            <a:extLst xmlns:a="http://schemas.openxmlformats.org/drawingml/2006/main">
              <a:ext uri="{FF2B5EF4-FFF2-40B4-BE49-F238E27FC236}">
                <a16:creationId xmlns:a16="http://schemas.microsoft.com/office/drawing/2014/main" id="{825067B6-1F32-4F0C-B05C-B3E013AB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76550"/>
            <a:ext cx="43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F49"/>
                </a:solidFill>
              </a:defRPr>
            </a:pPr>
            <a:r>
              <a:rPr sz="225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14" name="tick1">
            <a:extLst xmlns:a="http://schemas.openxmlformats.org/drawingml/2006/main">
              <a:ext uri="{FF2B5EF4-FFF2-40B4-BE49-F238E27FC236}">
                <a16:creationId xmlns:a16="http://schemas.microsoft.com/office/drawing/2014/main" id="{921A7838-16FE-4A2F-BFAC-56B501AF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T+3</a:t>
            </a:r>
          </a:p>
        </p:txBody>
      </p:sp>
      <p:sp>
        <p:nvSpPr>
          <p:cNvPr id="15" name="event1">
            <a:extLst xmlns:a="http://schemas.openxmlformats.org/drawingml/2006/main">
              <a:ext uri="{FF2B5EF4-FFF2-40B4-BE49-F238E27FC236}">
                <a16:creationId xmlns:a16="http://schemas.microsoft.com/office/drawing/2014/main" id="{13B33809-9729-42BD-92DA-29027D3D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DF3FA"/>
                </a:solidFill>
              </a:defRPr>
            </a:pPr>
            <a:r>
              <a:rPr sz="1575" b="1">
                <a:solidFill>
                  <a:srgbClr val="EDF3FA"/>
                </a:solidFill>
              </a:rPr>
              <a:t>PAYMENTS</a:t>
            </a:r>
          </a:p>
        </p:txBody>
      </p:sp>
      <p:sp>
        <p:nvSpPr>
          <p:cNvPr id="16" name="detail1">
            <a:extLst xmlns:a="http://schemas.openxmlformats.org/drawingml/2006/main">
              <a:ext uri="{FF2B5EF4-FFF2-40B4-BE49-F238E27FC236}">
                <a16:creationId xmlns:a16="http://schemas.microsoft.com/office/drawing/2014/main" id="{202EA54F-4AF6-4EC8-9E34-E2A7D4EF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Requests cannot authenticate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B6296-0ED1-4562-8171-7A325193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49"/>
          </a:solidFill>
          <a:ln xmlns:a="http://schemas.openxmlformats.org/drawingml/2006/main" w="0">
            <a:solidFill>
              <a:srgbClr val="FF5F49"/>
            </a:solidFill>
            <a:prstDash val="solid"/>
          </a:ln>
        </p:spPr>
      </p:sp>
      <p:sp>
        <p:nvSpPr>
          <p:cNvPr id="18" name="arr2">
            <a:extLst xmlns:a="http://schemas.openxmlformats.org/drawingml/2006/main">
              <a:ext uri="{FF2B5EF4-FFF2-40B4-BE49-F238E27FC236}">
                <a16:creationId xmlns:a16="http://schemas.microsoft.com/office/drawing/2014/main" id="{A9B692B7-9541-421B-A2EE-EBDE57E6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43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F49"/>
                </a:solidFill>
              </a:defRPr>
            </a:pPr>
            <a:r>
              <a:rPr sz="225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19" name="tick2">
            <a:extLst xmlns:a="http://schemas.openxmlformats.org/drawingml/2006/main">
              <a:ext uri="{FF2B5EF4-FFF2-40B4-BE49-F238E27FC236}">
                <a16:creationId xmlns:a16="http://schemas.microsoft.com/office/drawing/2014/main" id="{823682B1-8BB9-4404-BCF8-A8299443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T+5</a:t>
            </a:r>
          </a:p>
        </p:txBody>
      </p:sp>
      <p:sp>
        <p:nvSpPr>
          <p:cNvPr id="20" name="event2">
            <a:extLst xmlns:a="http://schemas.openxmlformats.org/drawingml/2006/main">
              <a:ext uri="{FF2B5EF4-FFF2-40B4-BE49-F238E27FC236}">
                <a16:creationId xmlns:a16="http://schemas.microsoft.com/office/drawing/2014/main" id="{32DA4C08-760F-445F-B800-644E467C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DF3FA"/>
                </a:solidFill>
              </a:defRPr>
            </a:pPr>
            <a:r>
              <a:rPr sz="1575" b="1">
                <a:solidFill>
                  <a:srgbClr val="EDF3FA"/>
                </a:solidFill>
              </a:rPr>
              <a:t>FUEL</a:t>
            </a:r>
          </a:p>
        </p:txBody>
      </p:sp>
      <p:sp>
        <p:nvSpPr>
          <p:cNvPr id="21" name="detail2">
            <a:extLst xmlns:a="http://schemas.openxmlformats.org/drawingml/2006/main">
              <a:ext uri="{FF2B5EF4-FFF2-40B4-BE49-F238E27FC236}">
                <a16:creationId xmlns:a16="http://schemas.microsoft.com/office/drawing/2014/main" id="{2768151F-2483-43E1-A458-0B7F8705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Transactions stop</a:t>
            </a:r>
          </a:p>
        </p:txBody>
      </p:sp>
      <p:sp>
        <p:nvSpPr>
          <p:cNvPr id="22" name="tick3">
            <a:extLst xmlns:a="http://schemas.openxmlformats.org/drawingml/2006/main">
              <a:ext uri="{FF2B5EF4-FFF2-40B4-BE49-F238E27FC236}">
                <a16:creationId xmlns:a16="http://schemas.microsoft.com/office/drawing/2014/main" id="{3BCF140B-E82B-407E-846D-615D8A29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5F49"/>
                </a:solidFill>
              </a:defRPr>
            </a:pPr>
            <a:r>
              <a:rPr sz="900" b="1">
                <a:solidFill>
                  <a:srgbClr val="FF5F49"/>
                </a:solidFill>
              </a:rPr>
              <a:t>T+9</a:t>
            </a:r>
          </a:p>
        </p:txBody>
      </p:sp>
      <p:sp>
        <p:nvSpPr>
          <p:cNvPr id="23" name="event3">
            <a:extLst xmlns:a="http://schemas.openxmlformats.org/drawingml/2006/main">
              <a:ext uri="{FF2B5EF4-FFF2-40B4-BE49-F238E27FC236}">
                <a16:creationId xmlns:a16="http://schemas.microsoft.com/office/drawing/2014/main" id="{3CF98C74-67E0-45C0-8547-0B2F5B15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DF3FA"/>
                </a:solidFill>
              </a:defRPr>
            </a:pPr>
            <a:r>
              <a:rPr sz="1575" b="1">
                <a:solidFill>
                  <a:srgbClr val="EDF3FA"/>
                </a:solidFill>
              </a:rPr>
              <a:t>HOSPITAL</a:t>
            </a:r>
          </a:p>
        </p:txBody>
      </p:sp>
      <p:sp>
        <p:nvSpPr>
          <p:cNvPr id="24" name="detail3">
            <a:extLst xmlns:a="http://schemas.openxmlformats.org/drawingml/2006/main">
              <a:ext uri="{FF2B5EF4-FFF2-40B4-BE49-F238E27FC236}">
                <a16:creationId xmlns:a16="http://schemas.microsoft.com/office/drawing/2014/main" id="{ABA2D14F-EEE7-4011-9C07-7BF6C38A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Emergency capacity &lt; threshold</a:t>
            </a:r>
          </a:p>
        </p:txBody>
      </p:sp>
      <p:sp>
        <p:nvSpPr>
          <p:cNvPr id="25" name="repair">
            <a:extLst xmlns:a="http://schemas.openxmlformats.org/drawingml/2006/main">
              <a:ext uri="{FF2B5EF4-FFF2-40B4-BE49-F238E27FC236}">
                <a16:creationId xmlns:a16="http://schemas.microsoft.com/office/drawing/2014/main" id="{F18764DB-BC5C-4EC3-BF8F-A6F32474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9144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C1D19"/>
          </a:solidFill>
          <a:ln xmlns:a="http://schemas.openxmlformats.org/drawingml/2006/main" w="9525">
            <a:solidFill>
              <a:srgbClr val="28624D"/>
            </a:solidFill>
            <a:prstDash val="solid"/>
          </a:ln>
        </p:spPr>
      </p:sp>
      <p:sp>
        <p:nvSpPr>
          <p:cNvPr id="26" name="repair-label">
            <a:extLst xmlns:a="http://schemas.openxmlformats.org/drawingml/2006/main">
              <a:ext uri="{FF2B5EF4-FFF2-40B4-BE49-F238E27FC236}">
                <a16:creationId xmlns:a16="http://schemas.microsoft.com/office/drawing/2014/main" id="{942725DD-AD44-4431-AD27-10DB2B48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D69B"/>
                </a:solidFill>
              </a:defRPr>
            </a:pPr>
            <a:r>
              <a:rPr sz="900" b="1">
                <a:solidFill>
                  <a:srgbClr val="56D69B"/>
                </a:solidFill>
              </a:rPr>
              <a:t>SMALLEST PREVENTIVE INTERVENTION</a:t>
            </a:r>
          </a:p>
        </p:txBody>
      </p:sp>
      <p:sp>
        <p:nvSpPr>
          <p:cNvPr id="27" name="repair-name">
            <a:extLst xmlns:a="http://schemas.openxmlformats.org/drawingml/2006/main">
              <a:ext uri="{FF2B5EF4-FFF2-40B4-BE49-F238E27FC236}">
                <a16:creationId xmlns:a16="http://schemas.microsoft.com/office/drawing/2014/main" id="{3D61BC76-AC56-474B-89F4-2E01A81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816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3FA"/>
                </a:solidFill>
              </a:defRPr>
            </a:pPr>
            <a:r>
              <a:rPr sz="1875" b="1">
                <a:solidFill>
                  <a:srgbClr val="EDF3FA"/>
                </a:solidFill>
              </a:rPr>
              <a:t>Offline emergency fuel authorization</a:t>
            </a:r>
          </a:p>
        </p:txBody>
      </p:sp>
      <p:sp>
        <p:nvSpPr>
          <p:cNvPr id="28" name="repair-outcome">
            <a:extLst xmlns:a="http://schemas.openxmlformats.org/drawingml/2006/main">
              <a:ext uri="{FF2B5EF4-FFF2-40B4-BE49-F238E27FC236}">
                <a16:creationId xmlns:a16="http://schemas.microsoft.com/office/drawing/2014/main" id="{4A0CD416-1592-418C-80C0-6276F823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D69B"/>
                </a:solidFill>
              </a:defRPr>
            </a:pPr>
            <a:r>
              <a:rPr sz="1275" b="1">
                <a:solidFill>
                  <a:srgbClr val="56D69B"/>
                </a:solidFill>
              </a:rPr>
              <a:t>HOSPITAL SURVIVES</a:t>
            </a:r>
          </a:p>
        </p:txBody>
      </p:sp>
    </p:spTree>
    <p:extLst>
      <p:ext uri="{BB962C8B-B14F-4D97-AF65-F5344CB8AC3E}">
        <p14:creationId xmlns:p14="http://schemas.microsoft.com/office/powerpoint/2010/main" val="922591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7">
            <a:extLst xmlns:a="http://schemas.openxmlformats.org/drawingml/2006/main">
              <a:ext uri="{FF2B5EF4-FFF2-40B4-BE49-F238E27FC236}">
                <a16:creationId xmlns:a16="http://schemas.microsoft.com/office/drawing/2014/main" id="{FC78CF8B-757D-4660-A9FB-1DC9EC6E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40ABEB74-BFA4-4952-B9FB-022C5C2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MEASURED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9E05C-2C9E-4991-BB86-4CF3389E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D4434291-BAEF-4A9C-B4C6-82AE6FE4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1BD596-F852-410B-B057-674734AF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Search beats simpler baselines.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EF6C9D-3065-4F70-847D-E9ECD898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Equal budgets. Fixed seeds. No fabricated benchmark claims.</a:t>
            </a:r>
          </a:p>
        </p:txBody>
      </p:sp>
      <p:sp>
        <p:nvSpPr>
          <p:cNvPr id="7" name="ratio">
            <a:extLst xmlns:a="http://schemas.openxmlformats.org/drawingml/2006/main">
              <a:ext uri="{FF2B5EF4-FFF2-40B4-BE49-F238E27FC236}">
                <a16:creationId xmlns:a16="http://schemas.microsoft.com/office/drawing/2014/main" id="{4CB77928-E5C4-4AD5-A17A-5AC02C3E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54D5FF"/>
                </a:solidFill>
              </a:defRPr>
            </a:pPr>
            <a:r>
              <a:rPr sz="4650" b="1">
                <a:solidFill>
                  <a:srgbClr val="54D5FF"/>
                </a:solidFill>
              </a:rPr>
              <a:t>1.90×</a:t>
            </a:r>
          </a:p>
        </p:txBody>
      </p:sp>
      <p:sp>
        <p:nvSpPr>
          <p:cNvPr id="8" name="ratio-copy">
            <a:extLst xmlns:a="http://schemas.openxmlformats.org/drawingml/2006/main">
              <a:ext uri="{FF2B5EF4-FFF2-40B4-BE49-F238E27FC236}">
                <a16:creationId xmlns:a16="http://schemas.microsoft.com/office/drawing/2014/main" id="{86DEB4B6-0F02-4745-9B0B-A77F19F9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F91A8"/>
                </a:solidFill>
              </a:defRPr>
            </a:pPr>
            <a:r>
              <a:rPr sz="1350" b="0">
                <a:solidFill>
                  <a:srgbClr val="7F91A8"/>
                </a:solidFill>
              </a:rPr>
              <a:t>mean evolutionary / random</a:t>
            </a:r>
          </a:p>
          <a:p xmlns:a="http://schemas.openxmlformats.org/drawingml/2006/main">
            <a:pPr algn="l">
              <a:defRPr sz="1350" b="0">
                <a:solidFill>
                  <a:srgbClr val="7F91A8"/>
                </a:solidFill>
              </a:defRPr>
            </a:pPr>
            <a:r>
              <a:rPr sz="1350" b="0">
                <a:solidFill>
                  <a:srgbClr val="7F91A8"/>
                </a:solidFill>
              </a:rPr>
              <a:t>collapse-discovery ratio</a:t>
            </a:r>
          </a:p>
        </p:txBody>
      </p:sp>
      <p:sp>
        <p:nvSpPr>
          <p:cNvPr id="9" name="ci">
            <a:extLst xmlns:a="http://schemas.openxmlformats.org/drawingml/2006/main">
              <a:ext uri="{FF2B5EF4-FFF2-40B4-BE49-F238E27FC236}">
                <a16:creationId xmlns:a16="http://schemas.microsoft.com/office/drawing/2014/main" id="{C4AE1C64-A564-4077-BB92-FA75F3C0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</a:defRPr>
            </a:pPr>
            <a:r>
              <a:rPr sz="1350" b="1">
                <a:solidFill>
                  <a:srgbClr val="FFB84D"/>
                </a:solidFill>
              </a:rPr>
              <a:t>95% CI  [1.65, 2.15]</a:t>
            </a:r>
          </a:p>
        </p:txBody>
      </p:sp>
      <p:sp>
        <p:nvSpPr>
          <p:cNvPr id="10" name="wins">
            <a:extLst xmlns:a="http://schemas.openxmlformats.org/drawingml/2006/main">
              <a:ext uri="{FF2B5EF4-FFF2-40B4-BE49-F238E27FC236}">
                <a16:creationId xmlns:a16="http://schemas.microsoft.com/office/drawing/2014/main" id="{BF85751F-E97D-432F-A947-EC8E6153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3FA"/>
                </a:solidFill>
              </a:defRPr>
            </a:pPr>
            <a:r>
              <a:rPr sz="1500" b="1">
                <a:solidFill>
                  <a:srgbClr val="EDF3FA"/>
                </a:solidFill>
              </a:rPr>
              <a:t>19 / 20 seeds won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286250" y="2143125"/>
          <a:ext xmlns:a="http://schemas.openxmlformats.org/drawingml/2006/main" cx="6858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39ba01d8db44f4"/>
          </a:graphicData>
        </a:graphic>
      </p:graphicFrame>
      <p:sp>
        <p:nvSpPr>
          <p:cNvPr id="12" name="tradeoff">
            <a:extLst xmlns:a="http://schemas.openxmlformats.org/drawingml/2006/main">
              <a:ext uri="{FF2B5EF4-FFF2-40B4-BE49-F238E27FC236}">
                <a16:creationId xmlns:a16="http://schemas.microsoft.com/office/drawing/2014/main" id="{F60F8C4D-38B0-4FC6-85FA-D9BFB329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Scientific honesty: random sampling found more unique signatures. The method improves collapse yield, not every objective.</a:t>
            </a:r>
          </a:p>
        </p:txBody>
      </p:sp>
    </p:spTree>
    <p:extLst>
      <p:ext uri="{BB962C8B-B14F-4D97-AF65-F5344CB8AC3E}">
        <p14:creationId xmlns:p14="http://schemas.microsoft.com/office/powerpoint/2010/main" val="20325777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8">
            <a:extLst xmlns:a="http://schemas.openxmlformats.org/drawingml/2006/main">
              <a:ext uri="{FF2B5EF4-FFF2-40B4-BE49-F238E27FC236}">
                <a16:creationId xmlns:a16="http://schemas.microsoft.com/office/drawing/2014/main" id="{5BB84CF5-A6FA-4C13-9295-3ED03BF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9C43D26A-4823-48C2-93DE-4EEA4FC5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PHYSICS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7C538-128A-46BF-BDA7-B46651F2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598EDF5C-0F9D-4DD0-BC99-A071C1C0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CC0A7B-8C77-4930-A985-DEFE32F1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From synthetic dependencies to physical redistribution.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7E70DE-A4FC-4602-B5CD-9C9FBD27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A public IEEE 14-bus bridge solves DC power flow and N−1 overload cascades.</a:t>
            </a:r>
          </a:p>
        </p:txBody>
      </p:sp>
      <p:sp>
        <p:nvSpPr>
          <p:cNvPr id="7" name="equation">
            <a:extLst xmlns:a="http://schemas.openxmlformats.org/drawingml/2006/main">
              <a:ext uri="{FF2B5EF4-FFF2-40B4-BE49-F238E27FC236}">
                <a16:creationId xmlns:a16="http://schemas.microsoft.com/office/drawing/2014/main" id="{40B847D1-77E1-4CA1-A575-78F7DC20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4D5FF"/>
                </a:solidFill>
              </a:defRPr>
            </a:pPr>
            <a:r>
              <a:rPr sz="3600" b="1">
                <a:solidFill>
                  <a:srgbClr val="54D5FF"/>
                </a:solidFill>
              </a:rPr>
              <a:t>B′θ = P</a:t>
            </a:r>
          </a:p>
        </p:txBody>
      </p:sp>
      <p:sp>
        <p:nvSpPr>
          <p:cNvPr id="8" name="flow">
            <a:extLst xmlns:a="http://schemas.openxmlformats.org/drawingml/2006/main">
              <a:ext uri="{FF2B5EF4-FFF2-40B4-BE49-F238E27FC236}">
                <a16:creationId xmlns:a16="http://schemas.microsoft.com/office/drawing/2014/main" id="{EE143962-7DC3-4CB0-94B8-468F4945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DF3FA"/>
                </a:solidFill>
              </a:defRPr>
            </a:pPr>
            <a:r>
              <a:rPr sz="2025" b="1">
                <a:solidFill>
                  <a:srgbClr val="EDF3FA"/>
                </a:solidFill>
              </a:rPr>
              <a:t>Fᵢⱼ = (θᵢ − θⱼ) / xᵢⱼ</a:t>
            </a:r>
          </a:p>
        </p:txBody>
      </p:sp>
      <p:sp>
        <p:nvSpPr>
          <p:cNvPr id="9" name="data">
            <a:extLst xmlns:a="http://schemas.openxmlformats.org/drawingml/2006/main">
              <a:ext uri="{FF2B5EF4-FFF2-40B4-BE49-F238E27FC236}">
                <a16:creationId xmlns:a16="http://schemas.microsoft.com/office/drawing/2014/main" id="{C6FD09EC-A726-4953-9964-94794F2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MATPOWER demand · generation · reactance</a:t>
            </a:r>
          </a:p>
        </p:txBody>
      </p:sp>
      <p:sp>
        <p:nvSpPr>
          <p:cNvPr id="10" name="seq">
            <a:extLst xmlns:a="http://schemas.openxmlformats.org/drawingml/2006/main">
              <a:ext uri="{FF2B5EF4-FFF2-40B4-BE49-F238E27FC236}">
                <a16:creationId xmlns:a16="http://schemas.microsoft.com/office/drawing/2014/main" id="{71B6FEAE-C44A-45C1-85BA-12172EBD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F49"/>
                </a:solidFill>
              </a:defRPr>
            </a:pPr>
            <a:r>
              <a:rPr sz="1200" b="1">
                <a:solidFill>
                  <a:srgbClr val="FF5F49"/>
                </a:solidFill>
              </a:rPr>
              <a:t>LINE 1–2 OUT</a:t>
            </a:r>
          </a:p>
        </p:txBody>
      </p:sp>
      <p:sp>
        <p:nvSpPr>
          <p:cNvPr id="11" name="seq-arrow1">
            <a:extLst xmlns:a="http://schemas.openxmlformats.org/drawingml/2006/main">
              <a:ext uri="{FF2B5EF4-FFF2-40B4-BE49-F238E27FC236}">
                <a16:creationId xmlns:a16="http://schemas.microsoft.com/office/drawing/2014/main" id="{5DF030CC-A495-4328-8FDA-E742C7C9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5F49"/>
                </a:solidFill>
              </a:defRPr>
            </a:pPr>
            <a:r>
              <a:rPr sz="2100" b="1">
                <a:solidFill>
                  <a:srgbClr val="FF5F49"/>
                </a:solidFill>
              </a:rPr>
              <a:t>→</a:t>
            </a:r>
          </a:p>
        </p:txBody>
      </p:sp>
      <p:sp>
        <p:nvSpPr>
          <p:cNvPr id="12" name="seq2">
            <a:extLst xmlns:a="http://schemas.openxmlformats.org/drawingml/2006/main">
              <a:ext uri="{FF2B5EF4-FFF2-40B4-BE49-F238E27FC236}">
                <a16:creationId xmlns:a16="http://schemas.microsoft.com/office/drawing/2014/main" id="{02144BB2-3E44-474A-A9F6-AE7A642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F49"/>
                </a:solidFill>
              </a:defRPr>
            </a:pPr>
            <a:r>
              <a:rPr sz="1200" b="1">
                <a:solidFill>
                  <a:srgbClr val="FF5F49"/>
                </a:solidFill>
              </a:rPr>
              <a:t>3 OVERLOAD TRIPS</a:t>
            </a:r>
          </a:p>
        </p:txBody>
      </p:sp>
      <p:sp>
        <p:nvSpPr>
          <p:cNvPr id="13" name="seq-arrow2">
            <a:extLst xmlns:a="http://schemas.openxmlformats.org/drawingml/2006/main">
              <a:ext uri="{FF2B5EF4-FFF2-40B4-BE49-F238E27FC236}">
                <a16:creationId xmlns:a16="http://schemas.microsoft.com/office/drawing/2014/main" id="{24B546CB-D3D0-4ACA-B7D0-99654896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F49"/>
                </a:solidFill>
              </a:defRPr>
            </a:pPr>
            <a:r>
              <a:rPr sz="2250" b="1">
                <a:solidFill>
                  <a:srgbClr val="FF5F49"/>
                </a:solidFill>
              </a:rPr>
              <a:t>↓</a:t>
            </a:r>
          </a:p>
        </p:txBody>
      </p:sp>
      <p:sp>
        <p:nvSpPr>
          <p:cNvPr id="14" name="mw">
            <a:extLst xmlns:a="http://schemas.openxmlformats.org/drawingml/2006/main">
              <a:ext uri="{FF2B5EF4-FFF2-40B4-BE49-F238E27FC236}">
                <a16:creationId xmlns:a16="http://schemas.microsoft.com/office/drawing/2014/main" id="{EC608131-D5D6-4838-87E9-C7CA845B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B84D"/>
                </a:solidFill>
              </a:defRPr>
            </a:pPr>
            <a:r>
              <a:rPr sz="4350" b="1">
                <a:solidFill>
                  <a:srgbClr val="FFB84D"/>
                </a:solidFill>
              </a:rPr>
              <a:t>259 MW</a:t>
            </a:r>
          </a:p>
        </p:txBody>
      </p:sp>
      <p:sp>
        <p:nvSpPr>
          <p:cNvPr id="15" name="islanded">
            <a:extLst xmlns:a="http://schemas.openxmlformats.org/drawingml/2006/main">
              <a:ext uri="{FF2B5EF4-FFF2-40B4-BE49-F238E27FC236}">
                <a16:creationId xmlns:a16="http://schemas.microsoft.com/office/drawing/2014/main" id="{59E6A554-483D-4835-BB9C-04C4CB2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F91A8"/>
                </a:solidFill>
              </a:defRPr>
            </a:pPr>
            <a:r>
              <a:rPr sz="1050" b="1">
                <a:solidFill>
                  <a:srgbClr val="7F91A8"/>
                </a:solidFill>
              </a:rPr>
              <a:t>LOAD ISLANDED · 2 ITERATIONS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E20F7-F810-42AE-9EF6-46003D6E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17" name="limit">
            <a:extLst xmlns:a="http://schemas.openxmlformats.org/drawingml/2006/main">
              <a:ext uri="{FF2B5EF4-FFF2-40B4-BE49-F238E27FC236}">
                <a16:creationId xmlns:a16="http://schemas.microsoft.com/office/drawing/2014/main" id="{A3EC32E3-D06A-42B6-8FB6-A8D85AA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Boundary: MATPOWER does not provide branch MVA limits for case14; overload limits are derived experimental assumptions, explicitly labeled.</a:t>
            </a:r>
          </a:p>
        </p:txBody>
      </p:sp>
    </p:spTree>
    <p:extLst>
      <p:ext uri="{BB962C8B-B14F-4D97-AF65-F5344CB8AC3E}">
        <p14:creationId xmlns:p14="http://schemas.microsoft.com/office/powerpoint/2010/main" val="1299670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9">
            <a:extLst xmlns:a="http://schemas.openxmlformats.org/drawingml/2006/main">
              <a:ext uri="{FF2B5EF4-FFF2-40B4-BE49-F238E27FC236}">
                <a16:creationId xmlns:a16="http://schemas.microsoft.com/office/drawing/2014/main" id="{49F6F5DA-3F85-492C-AA0F-0C48645D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3FA"/>
                </a:solidFill>
              </a:defRPr>
            </a:pPr>
            <a:r>
              <a:rPr sz="1125" b="1">
                <a:solidFill>
                  <a:srgbClr val="EDF3FA"/>
                </a:solidFill>
              </a:rPr>
              <a:t>BLACK SWAN FORGE</a:t>
            </a:r>
          </a:p>
        </p:txBody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03568A2F-393C-48D2-B0E5-845C1476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PATH TO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BC49F-AD8E-4028-9EFB-F1F19528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1C300377-10C8-43F6-8B15-148E766E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F91A8"/>
                </a:solidFill>
              </a:defRPr>
            </a:pPr>
            <a:r>
              <a:rPr sz="825" b="1">
                <a:solidFill>
                  <a:srgbClr val="7F91A8"/>
                </a:solidFill>
              </a:rPr>
              <a:t>09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B0AE0E-6C8A-42CC-AA9A-A5078857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DF3FA"/>
                </a:solidFill>
              </a:defRPr>
            </a:pPr>
            <a:r>
              <a:rPr sz="3000" b="1">
                <a:solidFill>
                  <a:srgbClr val="EDF3FA"/>
                </a:solidFill>
              </a:rPr>
              <a:t>Bold does not mean vague.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F18EAE-2002-4D2C-AA11-4772B80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F91A8"/>
                </a:solidFill>
              </a:defRPr>
            </a:pPr>
            <a:r>
              <a:rPr sz="1425" b="0">
                <a:solidFill>
                  <a:srgbClr val="7F91A8"/>
                </a:solidFill>
              </a:rPr>
              <a:t>A staged route from open benchmarks to governed infrastructure research.</a:t>
            </a:r>
          </a:p>
        </p:txBody>
      </p:sp>
      <p:sp>
        <p:nvSpPr>
          <p:cNvPr id="7" name="rn0">
            <a:extLst xmlns:a="http://schemas.openxmlformats.org/drawingml/2006/main">
              <a:ext uri="{FF2B5EF4-FFF2-40B4-BE49-F238E27FC236}">
                <a16:creationId xmlns:a16="http://schemas.microsoft.com/office/drawing/2014/main" id="{8685684E-201B-4003-9AB8-88068E3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01</a:t>
            </a:r>
          </a:p>
        </p:txBody>
      </p:sp>
      <p:sp>
        <p:nvSpPr>
          <p:cNvPr id="8" name="rh0">
            <a:extLst xmlns:a="http://schemas.openxmlformats.org/drawingml/2006/main">
              <a:ext uri="{FF2B5EF4-FFF2-40B4-BE49-F238E27FC236}">
                <a16:creationId xmlns:a16="http://schemas.microsoft.com/office/drawing/2014/main" id="{902FD618-16A7-4014-AF90-56749400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FA"/>
                </a:solidFill>
              </a:defRPr>
            </a:pPr>
            <a:r>
              <a:rPr sz="1350" b="1">
                <a:solidFill>
                  <a:srgbClr val="EDF3FA"/>
                </a:solidFill>
              </a:rPr>
              <a:t>OPEN BENCHMARKS</a:t>
            </a:r>
          </a:p>
        </p:txBody>
      </p:sp>
      <p:sp>
        <p:nvSpPr>
          <p:cNvPr id="9" name="rd0">
            <a:extLst xmlns:a="http://schemas.openxmlformats.org/drawingml/2006/main">
              <a:ext uri="{FF2B5EF4-FFF2-40B4-BE49-F238E27FC236}">
                <a16:creationId xmlns:a16="http://schemas.microsoft.com/office/drawing/2014/main" id="{5580C463-F0B5-443D-823F-0AE73C9E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Power · water · transport · communications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0AE5B-3BE7-4456-AB4E-BD6AE275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11" name="rn1">
            <a:extLst xmlns:a="http://schemas.openxmlformats.org/drawingml/2006/main">
              <a:ext uri="{FF2B5EF4-FFF2-40B4-BE49-F238E27FC236}">
                <a16:creationId xmlns:a16="http://schemas.microsoft.com/office/drawing/2014/main" id="{38B2F819-9A36-4488-BE06-A218B370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02</a:t>
            </a:r>
          </a:p>
        </p:txBody>
      </p:sp>
      <p:sp>
        <p:nvSpPr>
          <p:cNvPr id="12" name="rh1">
            <a:extLst xmlns:a="http://schemas.openxmlformats.org/drawingml/2006/main">
              <a:ext uri="{FF2B5EF4-FFF2-40B4-BE49-F238E27FC236}">
                <a16:creationId xmlns:a16="http://schemas.microsoft.com/office/drawing/2014/main" id="{2A9EB1A7-23BF-4AD1-8180-306A605B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FA"/>
                </a:solidFill>
              </a:defRPr>
            </a:pPr>
            <a:r>
              <a:rPr sz="1350" b="1">
                <a:solidFill>
                  <a:srgbClr val="EDF3FA"/>
                </a:solidFill>
              </a:rPr>
              <a:t>SECURE INGESTION</a:t>
            </a:r>
          </a:p>
        </p:txBody>
      </p:sp>
      <p:sp>
        <p:nvSpPr>
          <p:cNvPr id="13" name="rd1">
            <a:extLst xmlns:a="http://schemas.openxmlformats.org/drawingml/2006/main">
              <a:ext uri="{FF2B5EF4-FFF2-40B4-BE49-F238E27FC236}">
                <a16:creationId xmlns:a16="http://schemas.microsoft.com/office/drawing/2014/main" id="{69B5D768-70FD-423C-AA5C-B8B928EF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Operator topology stays inside its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249F1-0864-4512-A15C-9150BDBD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15" name="rn2">
            <a:extLst xmlns:a="http://schemas.openxmlformats.org/drawingml/2006/main">
              <a:ext uri="{FF2B5EF4-FFF2-40B4-BE49-F238E27FC236}">
                <a16:creationId xmlns:a16="http://schemas.microsoft.com/office/drawing/2014/main" id="{EDE83C8F-A9ED-41E8-9ACE-74A6CD91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03</a:t>
            </a:r>
          </a:p>
        </p:txBody>
      </p:sp>
      <p:sp>
        <p:nvSpPr>
          <p:cNvPr id="16" name="rh2">
            <a:extLst xmlns:a="http://schemas.openxmlformats.org/drawingml/2006/main">
              <a:ext uri="{FF2B5EF4-FFF2-40B4-BE49-F238E27FC236}">
                <a16:creationId xmlns:a16="http://schemas.microsoft.com/office/drawing/2014/main" id="{14CDEF68-1E7F-400C-A560-B2B37031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FA"/>
                </a:solidFill>
              </a:defRPr>
            </a:pPr>
            <a:r>
              <a:rPr sz="1350" b="1">
                <a:solidFill>
                  <a:srgbClr val="EDF3FA"/>
                </a:solidFill>
              </a:rPr>
              <a:t>HYBRID SOLVERS</a:t>
            </a:r>
          </a:p>
        </p:txBody>
      </p:sp>
      <p:sp>
        <p:nvSpPr>
          <p:cNvPr id="17" name="rd2">
            <a:extLst xmlns:a="http://schemas.openxmlformats.org/drawingml/2006/main">
              <a:ext uri="{FF2B5EF4-FFF2-40B4-BE49-F238E27FC236}">
                <a16:creationId xmlns:a16="http://schemas.microsoft.com/office/drawing/2014/main" id="{974A4121-AA9A-48C1-9C7A-0C94A616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AC power · hydraulics · traffic · inventories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75452-67AF-4155-A658-3C76F66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19" name="rn3">
            <a:extLst xmlns:a="http://schemas.openxmlformats.org/drawingml/2006/main">
              <a:ext uri="{FF2B5EF4-FFF2-40B4-BE49-F238E27FC236}">
                <a16:creationId xmlns:a16="http://schemas.microsoft.com/office/drawing/2014/main" id="{3F860C20-374E-4CA0-83DB-1FE6C333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04</a:t>
            </a:r>
          </a:p>
        </p:txBody>
      </p:sp>
      <p:sp>
        <p:nvSpPr>
          <p:cNvPr id="20" name="rh3">
            <a:extLst xmlns:a="http://schemas.openxmlformats.org/drawingml/2006/main">
              <a:ext uri="{FF2B5EF4-FFF2-40B4-BE49-F238E27FC236}">
                <a16:creationId xmlns:a16="http://schemas.microsoft.com/office/drawing/2014/main" id="{E25841E6-DD21-4118-8473-3E4BB6FF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FA"/>
                </a:solidFill>
              </a:defRPr>
            </a:pPr>
            <a:r>
              <a:rPr sz="1350" b="1">
                <a:solidFill>
                  <a:srgbClr val="EDF3FA"/>
                </a:solidFill>
              </a:rPr>
              <a:t>EXPERT-BLINDED REVIEW</a:t>
            </a:r>
          </a:p>
        </p:txBody>
      </p:sp>
      <p:sp>
        <p:nvSpPr>
          <p:cNvPr id="21" name="rd3">
            <a:extLst xmlns:a="http://schemas.openxmlformats.org/drawingml/2006/main">
              <a:ext uri="{FF2B5EF4-FFF2-40B4-BE49-F238E27FC236}">
                <a16:creationId xmlns:a16="http://schemas.microsoft.com/office/drawing/2014/main" id="{4498823A-CC9A-4EE2-A85E-199C617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Plausibility · novelty · actionability ·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4FC09-AF75-4978-A4D1-0FC23E03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23" name="rn4">
            <a:extLst xmlns:a="http://schemas.openxmlformats.org/drawingml/2006/main">
              <a:ext uri="{FF2B5EF4-FFF2-40B4-BE49-F238E27FC236}">
                <a16:creationId xmlns:a16="http://schemas.microsoft.com/office/drawing/2014/main" id="{FFD6CC86-DB56-4EEB-9C3F-F982438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05</a:t>
            </a:r>
          </a:p>
        </p:txBody>
      </p:sp>
      <p:sp>
        <p:nvSpPr>
          <p:cNvPr id="24" name="rh4">
            <a:extLst xmlns:a="http://schemas.openxmlformats.org/drawingml/2006/main">
              <a:ext uri="{FF2B5EF4-FFF2-40B4-BE49-F238E27FC236}">
                <a16:creationId xmlns:a16="http://schemas.microsoft.com/office/drawing/2014/main" id="{85894A71-1FCA-4D8F-9DDB-AC58C5F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FA"/>
                </a:solidFill>
              </a:defRPr>
            </a:pPr>
            <a:r>
              <a:rPr sz="1350" b="1">
                <a:solidFill>
                  <a:srgbClr val="EDF3FA"/>
                </a:solidFill>
              </a:rPr>
              <a:t>SHADOW EXERCISES</a:t>
            </a:r>
          </a:p>
        </p:txBody>
      </p:sp>
      <p:sp>
        <p:nvSpPr>
          <p:cNvPr id="25" name="rd4">
            <a:extLst xmlns:a="http://schemas.openxmlformats.org/drawingml/2006/main">
              <a:ext uri="{FF2B5EF4-FFF2-40B4-BE49-F238E27FC236}">
                <a16:creationId xmlns:a16="http://schemas.microsoft.com/office/drawing/2014/main" id="{84D18663-E04A-4F4E-9018-BF048009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Historical and tabletop replay; no control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F81F1-5EFD-4F6D-B1E4-022394C5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243244"/>
            </a:solidFill>
            <a:prstDash val="solid"/>
          </a:ln>
        </p:spPr>
      </p:sp>
      <p:sp>
        <p:nvSpPr>
          <p:cNvPr id="27" name="rn5">
            <a:extLst xmlns:a="http://schemas.openxmlformats.org/drawingml/2006/main">
              <a:ext uri="{FF2B5EF4-FFF2-40B4-BE49-F238E27FC236}">
                <a16:creationId xmlns:a16="http://schemas.microsoft.com/office/drawing/2014/main" id="{77C62E85-290F-450F-A2D7-BA38068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06</a:t>
            </a:r>
          </a:p>
        </p:txBody>
      </p:sp>
      <p:sp>
        <p:nvSpPr>
          <p:cNvPr id="28" name="rh5">
            <a:extLst xmlns:a="http://schemas.openxmlformats.org/drawingml/2006/main">
              <a:ext uri="{FF2B5EF4-FFF2-40B4-BE49-F238E27FC236}">
                <a16:creationId xmlns:a16="http://schemas.microsoft.com/office/drawing/2014/main" id="{0E9C5F26-A21A-4A47-9635-583376D2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3FA"/>
                </a:solidFill>
              </a:defRPr>
            </a:pPr>
            <a:r>
              <a:rPr sz="1350" b="1">
                <a:solidFill>
                  <a:srgbClr val="EDF3FA"/>
                </a:solidFill>
              </a:rPr>
              <a:t>FEDERATED NETWORK</a:t>
            </a:r>
          </a:p>
        </p:txBody>
      </p:sp>
      <p:sp>
        <p:nvSpPr>
          <p:cNvPr id="29" name="rd5">
            <a:extLst xmlns:a="http://schemas.openxmlformats.org/drawingml/2006/main">
              <a:ext uri="{FF2B5EF4-FFF2-40B4-BE49-F238E27FC236}">
                <a16:creationId xmlns:a16="http://schemas.microsoft.com/office/drawing/2014/main" id="{3B43DCC2-9743-4A99-BEAA-C0A2272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91A8"/>
                </a:solidFill>
              </a:defRPr>
            </a:pPr>
            <a:r>
              <a:rPr sz="1275" b="0">
                <a:solidFill>
                  <a:srgbClr val="7F91A8"/>
                </a:solidFill>
              </a:rPr>
              <a:t>Share dependency contracts, not sensitive topology</a:t>
            </a:r>
          </a:p>
        </p:txBody>
      </p:sp>
    </p:spTree>
    <p:extLst>
      <p:ext uri="{BB962C8B-B14F-4D97-AF65-F5344CB8AC3E}">
        <p14:creationId xmlns:p14="http://schemas.microsoft.com/office/powerpoint/2010/main" val="574798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000EB3-8EFD-4071-B611-FC63EB46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F49"/>
          </a:solidFill>
          <a:ln xmlns:a="http://schemas.openxmlformats.org/drawingml/2006/main" w="0">
            <a:solidFill>
              <a:srgbClr val="FF5F49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F9E20B1-0071-4093-9EE1-7A8D87BA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F49"/>
                </a:solidFill>
              </a:defRPr>
            </a:pPr>
            <a:r>
              <a:rPr sz="975" b="1">
                <a:solidFill>
                  <a:srgbClr val="FF5F49"/>
                </a:solidFill>
              </a:rPr>
              <a:t>THE FUTURE THIS CREATES</a:t>
            </a:r>
          </a:p>
        </p:txBody>
      </p:sp>
      <p:sp>
        <p:nvSpPr>
          <p:cNvPr id="3" name="close">
            <a:extLst xmlns:a="http://schemas.openxmlformats.org/drawingml/2006/main">
              <a:ext uri="{FF2B5EF4-FFF2-40B4-BE49-F238E27FC236}">
                <a16:creationId xmlns:a16="http://schemas.microsoft.com/office/drawing/2014/main" id="{27A0947B-8B47-43D3-B07A-DD46E94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57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EDF3FA"/>
                </a:solidFill>
              </a:defRPr>
            </a:pPr>
            <a:r>
              <a:rPr sz="3825" b="1">
                <a:solidFill>
                  <a:srgbClr val="EDF3FA"/>
                </a:solidFill>
              </a:rPr>
              <a:t>Civilization should learn</a:t>
            </a:r>
          </a:p>
          <a:p xmlns:a="http://schemas.openxmlformats.org/drawingml/2006/main">
            <a:pPr algn="l">
              <a:defRPr sz="3825" b="1">
                <a:solidFill>
                  <a:srgbClr val="EDF3FA"/>
                </a:solidFill>
              </a:defRPr>
            </a:pPr>
            <a:r>
              <a:rPr sz="3825" b="1">
                <a:solidFill>
                  <a:srgbClr val="EDF3FA"/>
                </a:solidFill>
              </a:rPr>
              <a:t>its hidden dependencies</a:t>
            </a:r>
          </a:p>
          <a:p xmlns:a="http://schemas.openxmlformats.org/drawingml/2006/main">
            <a:pPr algn="l">
              <a:defRPr sz="3825" b="1">
                <a:solidFill>
                  <a:srgbClr val="EDF3FA"/>
                </a:solidFill>
              </a:defRPr>
            </a:pPr>
            <a:r>
              <a:rPr sz="3825" b="1">
                <a:solidFill>
                  <a:srgbClr val="EDF3FA"/>
                </a:solidFill>
              </a:rPr>
              <a:t>in simulation—</a:t>
            </a:r>
          </a:p>
          <a:p xmlns:a="http://schemas.openxmlformats.org/drawingml/2006/main">
            <a:pPr algn="l">
              <a:defRPr sz="3825" b="1">
                <a:solidFill>
                  <a:srgbClr val="EDF3FA"/>
                </a:solidFill>
              </a:defRPr>
            </a:pPr>
            <a:r>
              <a:rPr sz="3825" b="1">
                <a:solidFill>
                  <a:srgbClr val="EDF3FA"/>
                </a:solidFill>
              </a:rPr>
              <a:t>not in disaster.</a:t>
            </a:r>
          </a:p>
        </p:txBody>
      </p:sp>
      <p:sp>
        <p:nvSpPr>
          <p:cNvPr id="4" name="ambition">
            <a:extLst xmlns:a="http://schemas.openxmlformats.org/drawingml/2006/main">
              <a:ext uri="{FF2B5EF4-FFF2-40B4-BE49-F238E27FC236}">
                <a16:creationId xmlns:a16="http://schemas.microsoft.com/office/drawing/2014/main" id="{B8EC050D-1887-4179-B59F-86B61D2B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4D5FF"/>
                </a:solidFill>
              </a:defRPr>
            </a:pPr>
            <a:r>
              <a:rPr sz="1875" b="1">
                <a:solidFill>
                  <a:srgbClr val="54D5FF"/>
                </a:solidFill>
              </a:rPr>
              <a:t>A crash-testing layer for civilization.</a:t>
            </a:r>
          </a:p>
        </p:txBody>
      </p:sp>
      <p:sp>
        <p:nvSpPr>
          <p:cNvPr id="5" name="boundary">
            <a:extLst xmlns:a="http://schemas.openxmlformats.org/drawingml/2006/main">
              <a:ext uri="{FF2B5EF4-FFF2-40B4-BE49-F238E27FC236}">
                <a16:creationId xmlns:a16="http://schemas.microsoft.com/office/drawing/2014/main" id="{0A9ACFB2-97C1-4BE6-BF15-7543B3C4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62625"/>
            <a:ext cx="981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F91A8"/>
                </a:solidFill>
              </a:defRPr>
            </a:pPr>
            <a:r>
              <a:rPr sz="1200" b="0">
                <a:solidFill>
                  <a:srgbClr val="7F91A8"/>
                </a:solidFill>
              </a:rPr>
              <a:t>Not an autonomous controller. A machine for generating hypotheses humans can falsify before real people become the experiment.</a:t>
            </a:r>
          </a:p>
        </p:txBody>
      </p:sp>
    </p:spTree>
    <p:extLst>
      <p:ext uri="{BB962C8B-B14F-4D97-AF65-F5344CB8AC3E}">
        <p14:creationId xmlns:p14="http://schemas.microsoft.com/office/powerpoint/2010/main" val="1377257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2026-06-22T14:22:38.1570000Z</dcterms:created>
  <dcterms:modified xsi:type="dcterms:W3CDTF">2026-06-22T14:22:38.1570000Z</dcterms:modified>
</coreProperties>
</file>